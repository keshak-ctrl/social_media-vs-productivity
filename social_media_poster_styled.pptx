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24176" cy="21387816"/>
  <p:notesSz cx="2138781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2395728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7808976" cy="2395728"/>
          </a:xfrm>
          <a:prstGeom prst="rect">
            <a:avLst/>
          </a:prstGeom>
          <a:solidFill>
            <a:srgbClr val="8B0D1F"/>
          </a:solidFill>
          <a:ln w="12700">
            <a:solidFill>
              <a:srgbClr val="8B0D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1466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F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 ·  York St John University, London  ·  June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9184" y="274320"/>
            <a:ext cx="1466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 vs Productivity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29184" y="1133856"/>
            <a:ext cx="1466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D0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Comprehensive Data Science Investigation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9184" y="1572768"/>
            <a:ext cx="1466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Patterns · Machine Learning Prediction · Evidence-Based Recommendations · 30,000 Participants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2395728"/>
            <a:ext cx="15124176" cy="65836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" y="2450592"/>
            <a:ext cx="2410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30,000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" y="2743200"/>
            <a:ext cx="2410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93848" y="2450592"/>
            <a:ext cx="2410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R²=0.7766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593848" y="2743200"/>
            <a:ext cx="2410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Regressor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14544" y="2450592"/>
            <a:ext cx="2410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75.9%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114544" y="2743200"/>
            <a:ext cx="2410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35240" y="2450592"/>
            <a:ext cx="2410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r=+0.874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635240" y="2743200"/>
            <a:ext cx="2410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155936" y="2450592"/>
            <a:ext cx="2410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r=−0.007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155936" y="2743200"/>
            <a:ext cx="2410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Usage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76632" y="2450592"/>
            <a:ext cx="2410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3.75×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2676632" y="2743200"/>
            <a:ext cx="2410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Stress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20696" y="2395728"/>
            <a:ext cx="0" cy="658368"/>
          </a:xfrm>
          <a:prstGeom prst="line">
            <a:avLst/>
          </a:prstGeom>
          <a:noFill/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41392" y="2395728"/>
            <a:ext cx="0" cy="658368"/>
          </a:xfrm>
          <a:prstGeom prst="line">
            <a:avLst/>
          </a:prstGeom>
          <a:noFill/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62088" y="2395728"/>
            <a:ext cx="0" cy="658368"/>
          </a:xfrm>
          <a:prstGeom prst="line">
            <a:avLst/>
          </a:prstGeom>
          <a:noFill/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82784" y="2395728"/>
            <a:ext cx="0" cy="658368"/>
          </a:xfrm>
          <a:prstGeom prst="line">
            <a:avLst/>
          </a:prstGeom>
          <a:noFill/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03480" y="2395728"/>
            <a:ext cx="0" cy="658368"/>
          </a:xfrm>
          <a:prstGeom prst="line">
            <a:avLst/>
          </a:prstGeom>
          <a:noFill/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3163824"/>
            <a:ext cx="402336" cy="402336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31821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42416" y="3163824"/>
            <a:ext cx="2688336" cy="420624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3856" y="3163824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64592" y="3675888"/>
            <a:ext cx="3566160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" y="3675888"/>
            <a:ext cx="73152" cy="1225296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803904"/>
            <a:ext cx="3291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investigate the relationship between social media usage and workplace/academic productivity, identifying the conditions under which social media becomes harmful and what protective factors exist.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64592" y="5010912"/>
            <a:ext cx="402336" cy="402336"/>
          </a:xfrm>
          <a:prstGeom prst="ellipse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4592" y="5010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0080" y="50292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42416" y="5010912"/>
            <a:ext cx="2688336" cy="420624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33856" y="5010912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PREPARATION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64592" y="5522976"/>
            <a:ext cx="356616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4592" y="5522976"/>
            <a:ext cx="73152" cy="23591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0896" y="5669280"/>
            <a:ext cx="585216" cy="310896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" y="5669280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30,000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50976" y="566928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92608" y="6016752"/>
            <a:ext cx="3310128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0896" y="6089904"/>
            <a:ext cx="585216" cy="310896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" y="6089904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50976" y="608990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variables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92608" y="6437376"/>
            <a:ext cx="3310128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0896" y="6510528"/>
            <a:ext cx="585216" cy="310896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" y="6510528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32+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50976" y="651052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92608" y="6858000"/>
            <a:ext cx="3310128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0896" y="6931152"/>
            <a:ext cx="585216" cy="310896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" y="693115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50976" y="693115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features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10896" y="746150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Mashayekhi (2024) Kaggle dataset · KNN imputation · Winsorisation 1–99% · 6 validation assertions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64592" y="7991856"/>
            <a:ext cx="402336" cy="402336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4592" y="7991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40080" y="801014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042416" y="7991856"/>
            <a:ext cx="2688336" cy="420624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33856" y="7991856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164592" y="8503920"/>
            <a:ext cx="3566160" cy="42245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64592" y="8503920"/>
            <a:ext cx="73152" cy="4224528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9184" y="8668512"/>
            <a:ext cx="274320" cy="27432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9184" y="8668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76656" y="8631936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does not independently harm productivity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76656" y="8887968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bivariate r = −0.007 between daily usage and actual productivity score.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92608" y="9400032"/>
            <a:ext cx="3346704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9184" y="9491472"/>
            <a:ext cx="274320" cy="27432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9184" y="9491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76656" y="9454896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is the dominant driver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76656" y="9710928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+0.874 — far greater impact than any digital behaviour variable.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292608" y="10222992"/>
            <a:ext cx="3346704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9184" y="10314432"/>
            <a:ext cx="274320" cy="27432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9184" y="10314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76656" y="10277856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Tipping point at ~4h/day usage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76656" y="10533888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flat below 4h then non-linearly accelerates. TikTok/Instagram show highest usage (3.07–3.12h/day).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92608" y="11045952"/>
            <a:ext cx="3346704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9184" y="11137392"/>
            <a:ext cx="274320" cy="27432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9184" y="11137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76656" y="11100816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loss amplifies social media harm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76656" y="11356848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7–8h sleep → productivity 8.0/10. Below 5h → 4.2/10. Synergistic not additive.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292608" y="11868912"/>
            <a:ext cx="3346704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9184" y="11960352"/>
            <a:ext cx="274320" cy="27432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9184" y="11960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76656" y="11923776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cluster: hidden burnout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76656" y="12179808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3.75× higher stress than Balanced users, identical output — unsustainable performance.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164592" y="12838176"/>
            <a:ext cx="402336" cy="402336"/>
          </a:xfrm>
          <a:prstGeom prst="ellipse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64592" y="12838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640080" y="128564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1042416" y="12838176"/>
            <a:ext cx="2688336" cy="420624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133856" y="12838176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164592" y="13350240"/>
            <a:ext cx="3566160" cy="2157984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64592" y="13350240"/>
            <a:ext cx="73152" cy="2157984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47472" y="134782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"Social media is a conditional amplifier — not an independent cause — of productivity loss."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329184" y="14319504"/>
            <a:ext cx="987552" cy="274320"/>
          </a:xfrm>
          <a:prstGeom prst="rect">
            <a:avLst/>
          </a:prstGeom>
          <a:solidFill>
            <a:srgbClr val="C8370A"/>
          </a:solidFill>
          <a:ln w="12700">
            <a:solidFill>
              <a:srgbClr val="C8370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9184" y="1431950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usage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1335024" y="14319504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1444752" y="14319504"/>
            <a:ext cx="987552" cy="274320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444752" y="1431950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loss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2450592" y="14319504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2560320" y="14319504"/>
            <a:ext cx="987552" cy="27432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560320" y="1431950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output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347472" y="147401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predictor is job satisfaction (r=+0.874). Evidence-based interventions: protect sleep, address stress, improve job satisfaction.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3931920" y="3163824"/>
            <a:ext cx="402336" cy="402336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931920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7" name="Text 105"/>
          <p:cNvSpPr/>
          <p:nvPr/>
        </p:nvSpPr>
        <p:spPr>
          <a:xfrm>
            <a:off x="4407408" y="31821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08" name="Shape 106"/>
          <p:cNvSpPr/>
          <p:nvPr/>
        </p:nvSpPr>
        <p:spPr>
          <a:xfrm>
            <a:off x="4809744" y="3163824"/>
            <a:ext cx="5102352" cy="420624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01184" y="316382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 INSIGHTS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3931920" y="3675888"/>
            <a:ext cx="5980176" cy="23957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31920" y="3675888"/>
            <a:ext cx="73152" cy="2395728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96512" y="3767328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Highlights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4133088" y="4096512"/>
            <a:ext cx="2788920" cy="822960"/>
          </a:xfrm>
          <a:prstGeom prst="rect">
            <a:avLst/>
          </a:prstGeom>
          <a:solidFill>
            <a:srgbClr val="EEF2FF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33088" y="4096512"/>
            <a:ext cx="2788920" cy="9144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242816" y="4224528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−0.007</a:t>
            </a:r>
            <a:endParaRPr lang="en-US" sz="1900" dirty="0"/>
          </a:p>
        </p:txBody>
      </p:sp>
      <p:sp>
        <p:nvSpPr>
          <p:cNvPr id="116" name="Text 114"/>
          <p:cNvSpPr/>
          <p:nvPr/>
        </p:nvSpPr>
        <p:spPr>
          <a:xfrm>
            <a:off x="4242816" y="455371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usage alone vs productivity — near-zero. Harm is mediated, not direct.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7086600" y="4096512"/>
            <a:ext cx="2788920" cy="822960"/>
          </a:xfrm>
          <a:prstGeom prst="rect">
            <a:avLst/>
          </a:prstGeom>
          <a:solidFill>
            <a:srgbClr val="ECFDF5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086600" y="4096512"/>
            <a:ext cx="2788920" cy="914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196328" y="4224528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+0.874</a:t>
            </a:r>
            <a:endParaRPr lang="en-US" sz="1900" dirty="0"/>
          </a:p>
        </p:txBody>
      </p:sp>
      <p:sp>
        <p:nvSpPr>
          <p:cNvPr id="120" name="Text 118"/>
          <p:cNvSpPr/>
          <p:nvPr/>
        </p:nvSpPr>
        <p:spPr>
          <a:xfrm>
            <a:off x="7196328" y="455371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dominates — ~79% of RF feature importance.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4133088" y="5010912"/>
            <a:ext cx="2788920" cy="822960"/>
          </a:xfrm>
          <a:prstGeom prst="rect">
            <a:avLst/>
          </a:prstGeom>
          <a:solidFill>
            <a:srgbClr val="FFFBEB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133088" y="5010912"/>
            <a:ext cx="2788920" cy="91440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42816" y="5138928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C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~4h / day</a:t>
            </a:r>
            <a:endParaRPr lang="en-US" sz="1900" dirty="0"/>
          </a:p>
        </p:txBody>
      </p:sp>
      <p:sp>
        <p:nvSpPr>
          <p:cNvPr id="124" name="Text 122"/>
          <p:cNvSpPr/>
          <p:nvPr/>
        </p:nvSpPr>
        <p:spPr>
          <a:xfrm>
            <a:off x="4242816" y="546811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Tipping point — flat below 4h, non-linear acceleration above.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7086600" y="5010912"/>
            <a:ext cx="2788920" cy="822960"/>
          </a:xfrm>
          <a:prstGeom prst="rect">
            <a:avLst/>
          </a:prstGeom>
          <a:solidFill>
            <a:srgbClr val="FEF2EE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086600" y="5010912"/>
            <a:ext cx="2788920" cy="91440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196328" y="5138928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1.1%</a:t>
            </a:r>
            <a:endParaRPr lang="en-US" sz="1900" dirty="0"/>
          </a:p>
        </p:txBody>
      </p:sp>
      <p:sp>
        <p:nvSpPr>
          <p:cNvPr id="128" name="Text 126"/>
          <p:cNvSpPr/>
          <p:nvPr/>
        </p:nvSpPr>
        <p:spPr>
          <a:xfrm>
            <a:off x="7196328" y="546811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Doomscrolling risk cohort. Wellbeing app = +1.4% recovery.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3931920" y="6199632"/>
            <a:ext cx="5980176" cy="2798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931920" y="6199632"/>
            <a:ext cx="73152" cy="2798064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096512" y="6291072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Risk Analysis — Actual EDA Output</a:t>
            </a:r>
            <a:endParaRPr lang="en-US" sz="1100" dirty="0"/>
          </a:p>
        </p:txBody>
      </p:sp>
      <p:pic>
        <p:nvPicPr>
          <p:cNvPr id="1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6620256"/>
            <a:ext cx="5650992" cy="2157984"/>
          </a:xfrm>
          <a:prstGeom prst="rect">
            <a:avLst/>
          </a:prstGeom>
        </p:spPr>
      </p:pic>
      <p:sp>
        <p:nvSpPr>
          <p:cNvPr id="133" name="Text 130"/>
          <p:cNvSpPr/>
          <p:nvPr/>
        </p:nvSpPr>
        <p:spPr>
          <a:xfrm>
            <a:off x="4096512" y="8814816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Twitter: 5.01 (highest) · Telegram: 4.91 (lowest) · All platforms near-identical (4.91–5.01). Usage 3.05–3.12h/day.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3931920" y="9107424"/>
            <a:ext cx="598017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3931920" y="9107424"/>
            <a:ext cx="73152" cy="23774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4096512" y="9198864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× Stress → Productivity (Mean Score)</a:t>
            </a:r>
            <a:endParaRPr lang="en-US" sz="1100" dirty="0"/>
          </a:p>
        </p:txBody>
      </p:sp>
      <p:sp>
        <p:nvSpPr>
          <p:cNvPr id="137" name="Text 134"/>
          <p:cNvSpPr/>
          <p:nvPr/>
        </p:nvSpPr>
        <p:spPr>
          <a:xfrm>
            <a:off x="5193792" y="954633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stress</a:t>
            </a:r>
            <a:endParaRPr lang="en-US" sz="950" dirty="0"/>
          </a:p>
        </p:txBody>
      </p:sp>
      <p:sp>
        <p:nvSpPr>
          <p:cNvPr id="138" name="Text 135"/>
          <p:cNvSpPr/>
          <p:nvPr/>
        </p:nvSpPr>
        <p:spPr>
          <a:xfrm>
            <a:off x="6766560" y="954633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stress</a:t>
            </a:r>
            <a:endParaRPr lang="en-US" sz="950" dirty="0"/>
          </a:p>
        </p:txBody>
      </p:sp>
      <p:sp>
        <p:nvSpPr>
          <p:cNvPr id="139" name="Text 136"/>
          <p:cNvSpPr/>
          <p:nvPr/>
        </p:nvSpPr>
        <p:spPr>
          <a:xfrm>
            <a:off x="8339328" y="954633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</a:t>
            </a:r>
            <a:endParaRPr lang="en-US" sz="950" dirty="0"/>
          </a:p>
        </p:txBody>
      </p:sp>
      <p:sp>
        <p:nvSpPr>
          <p:cNvPr id="140" name="Text 137"/>
          <p:cNvSpPr/>
          <p:nvPr/>
        </p:nvSpPr>
        <p:spPr>
          <a:xfrm>
            <a:off x="4096512" y="985723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2h</a:t>
            </a:r>
            <a:endParaRPr lang="en-US" sz="1100" dirty="0"/>
          </a:p>
        </p:txBody>
      </p:sp>
      <p:sp>
        <p:nvSpPr>
          <p:cNvPr id="141" name="Shape 138"/>
          <p:cNvSpPr/>
          <p:nvPr/>
        </p:nvSpPr>
        <p:spPr>
          <a:xfrm>
            <a:off x="5193792" y="9857232"/>
            <a:ext cx="1517904" cy="40233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2" name="Text 139"/>
          <p:cNvSpPr/>
          <p:nvPr/>
        </p:nvSpPr>
        <p:spPr>
          <a:xfrm>
            <a:off x="5193792" y="98572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8.4</a:t>
            </a:r>
            <a:endParaRPr lang="en-US" sz="1300" dirty="0"/>
          </a:p>
        </p:txBody>
      </p:sp>
      <p:sp>
        <p:nvSpPr>
          <p:cNvPr id="143" name="Shape 140"/>
          <p:cNvSpPr/>
          <p:nvPr/>
        </p:nvSpPr>
        <p:spPr>
          <a:xfrm>
            <a:off x="6766560" y="9857232"/>
            <a:ext cx="1517904" cy="402336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6766560" y="98572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7.6</a:t>
            </a:r>
            <a:endParaRPr lang="en-US" sz="1300" dirty="0"/>
          </a:p>
        </p:txBody>
      </p:sp>
      <p:sp>
        <p:nvSpPr>
          <p:cNvPr id="145" name="Shape 142"/>
          <p:cNvSpPr/>
          <p:nvPr/>
        </p:nvSpPr>
        <p:spPr>
          <a:xfrm>
            <a:off x="8339328" y="9857232"/>
            <a:ext cx="151790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8339328" y="98572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6.2</a:t>
            </a:r>
            <a:endParaRPr lang="en-US" sz="1300" dirty="0"/>
          </a:p>
        </p:txBody>
      </p:sp>
      <p:sp>
        <p:nvSpPr>
          <p:cNvPr id="147" name="Text 144"/>
          <p:cNvSpPr/>
          <p:nvPr/>
        </p:nvSpPr>
        <p:spPr>
          <a:xfrm>
            <a:off x="4096512" y="1031443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2–4h</a:t>
            </a:r>
            <a:endParaRPr lang="en-US" sz="1100" dirty="0"/>
          </a:p>
        </p:txBody>
      </p:sp>
      <p:sp>
        <p:nvSpPr>
          <p:cNvPr id="148" name="Shape 145"/>
          <p:cNvSpPr/>
          <p:nvPr/>
        </p:nvSpPr>
        <p:spPr>
          <a:xfrm>
            <a:off x="5193792" y="10314432"/>
            <a:ext cx="1517904" cy="402336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5193792" y="103144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</a:t>
            </a:r>
            <a:endParaRPr lang="en-US" sz="1300" dirty="0"/>
          </a:p>
        </p:txBody>
      </p:sp>
      <p:sp>
        <p:nvSpPr>
          <p:cNvPr id="150" name="Shape 147"/>
          <p:cNvSpPr/>
          <p:nvPr/>
        </p:nvSpPr>
        <p:spPr>
          <a:xfrm>
            <a:off x="6766560" y="10314432"/>
            <a:ext cx="151790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6766560" y="103144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endParaRPr lang="en-US" sz="1300" dirty="0"/>
          </a:p>
        </p:txBody>
      </p:sp>
      <p:sp>
        <p:nvSpPr>
          <p:cNvPr id="152" name="Shape 149"/>
          <p:cNvSpPr/>
          <p:nvPr/>
        </p:nvSpPr>
        <p:spPr>
          <a:xfrm>
            <a:off x="8339328" y="10314432"/>
            <a:ext cx="1517904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8339328" y="103144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</a:t>
            </a:r>
            <a:endParaRPr lang="en-US" sz="1300" dirty="0"/>
          </a:p>
        </p:txBody>
      </p:sp>
      <p:sp>
        <p:nvSpPr>
          <p:cNvPr id="154" name="Text 151"/>
          <p:cNvSpPr/>
          <p:nvPr/>
        </p:nvSpPr>
        <p:spPr>
          <a:xfrm>
            <a:off x="4096512" y="1077163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4–8h</a:t>
            </a:r>
            <a:endParaRPr lang="en-US" sz="1100" dirty="0"/>
          </a:p>
        </p:txBody>
      </p:sp>
      <p:sp>
        <p:nvSpPr>
          <p:cNvPr id="155" name="Shape 152"/>
          <p:cNvSpPr/>
          <p:nvPr/>
        </p:nvSpPr>
        <p:spPr>
          <a:xfrm>
            <a:off x="5193792" y="10771632"/>
            <a:ext cx="151790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6" name="Text 153"/>
          <p:cNvSpPr/>
          <p:nvPr/>
        </p:nvSpPr>
        <p:spPr>
          <a:xfrm>
            <a:off x="5193792" y="107716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endParaRPr lang="en-US" sz="1300" dirty="0"/>
          </a:p>
        </p:txBody>
      </p:sp>
      <p:sp>
        <p:nvSpPr>
          <p:cNvPr id="157" name="Shape 154"/>
          <p:cNvSpPr/>
          <p:nvPr/>
        </p:nvSpPr>
        <p:spPr>
          <a:xfrm>
            <a:off x="6766560" y="10771632"/>
            <a:ext cx="1517904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6766560" y="107716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endParaRPr lang="en-US" sz="1300" dirty="0"/>
          </a:p>
        </p:txBody>
      </p:sp>
      <p:sp>
        <p:nvSpPr>
          <p:cNvPr id="159" name="Shape 156"/>
          <p:cNvSpPr/>
          <p:nvPr/>
        </p:nvSpPr>
        <p:spPr>
          <a:xfrm>
            <a:off x="8339328" y="10771632"/>
            <a:ext cx="1517904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8339328" y="107716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</a:t>
            </a:r>
            <a:endParaRPr lang="en-US" sz="1300" dirty="0"/>
          </a:p>
        </p:txBody>
      </p:sp>
      <p:sp>
        <p:nvSpPr>
          <p:cNvPr id="161" name="Text 158"/>
          <p:cNvSpPr/>
          <p:nvPr/>
        </p:nvSpPr>
        <p:spPr>
          <a:xfrm>
            <a:off x="4096512" y="1122883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8h</a:t>
            </a:r>
            <a:endParaRPr lang="en-US" sz="1100" dirty="0"/>
          </a:p>
        </p:txBody>
      </p:sp>
      <p:sp>
        <p:nvSpPr>
          <p:cNvPr id="162" name="Shape 159"/>
          <p:cNvSpPr/>
          <p:nvPr/>
        </p:nvSpPr>
        <p:spPr>
          <a:xfrm>
            <a:off x="5193792" y="11228832"/>
            <a:ext cx="1517904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5193792" y="112288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</a:t>
            </a:r>
            <a:endParaRPr lang="en-US" sz="1300" dirty="0"/>
          </a:p>
        </p:txBody>
      </p:sp>
      <p:sp>
        <p:nvSpPr>
          <p:cNvPr id="164" name="Shape 161"/>
          <p:cNvSpPr/>
          <p:nvPr/>
        </p:nvSpPr>
        <p:spPr>
          <a:xfrm>
            <a:off x="6766560" y="11228832"/>
            <a:ext cx="1517904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6766560" y="112288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</a:t>
            </a:r>
            <a:endParaRPr lang="en-US" sz="1300" dirty="0"/>
          </a:p>
        </p:txBody>
      </p:sp>
      <p:sp>
        <p:nvSpPr>
          <p:cNvPr id="166" name="Shape 163"/>
          <p:cNvSpPr/>
          <p:nvPr/>
        </p:nvSpPr>
        <p:spPr>
          <a:xfrm>
            <a:off x="8339328" y="11228832"/>
            <a:ext cx="1517904" cy="402336"/>
          </a:xfrm>
          <a:prstGeom prst="rect">
            <a:avLst/>
          </a:prstGeom>
          <a:solidFill>
            <a:srgbClr val="7F1010"/>
          </a:solidFill>
          <a:ln w="12700">
            <a:solidFill>
              <a:srgbClr val="7F1010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8339328" y="11228832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</a:t>
            </a:r>
            <a:endParaRPr lang="en-US" sz="1300" dirty="0"/>
          </a:p>
        </p:txBody>
      </p:sp>
      <p:sp>
        <p:nvSpPr>
          <p:cNvPr id="168" name="Text 165"/>
          <p:cNvSpPr/>
          <p:nvPr/>
        </p:nvSpPr>
        <p:spPr>
          <a:xfrm>
            <a:off x="4096512" y="11265408"/>
            <a:ext cx="5650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&lt;2h + low stress = 8.4/10   |   Worst: &gt;8h + high stress = 3.2/10</a:t>
            </a:r>
            <a:endParaRPr lang="en-US" sz="950" dirty="0"/>
          </a:p>
        </p:txBody>
      </p:sp>
      <p:sp>
        <p:nvSpPr>
          <p:cNvPr id="169" name="Shape 166"/>
          <p:cNvSpPr/>
          <p:nvPr/>
        </p:nvSpPr>
        <p:spPr>
          <a:xfrm>
            <a:off x="3931920" y="11594592"/>
            <a:ext cx="5980176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3931920" y="11594592"/>
            <a:ext cx="73152" cy="1627632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4096512" y="11686032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 vs Productivity</a:t>
            </a:r>
            <a:endParaRPr lang="en-US" sz="1100" dirty="0"/>
          </a:p>
        </p:txBody>
      </p:sp>
      <p:sp>
        <p:nvSpPr>
          <p:cNvPr id="172" name="Text 169"/>
          <p:cNvSpPr/>
          <p:nvPr/>
        </p:nvSpPr>
        <p:spPr>
          <a:xfrm>
            <a:off x="4096512" y="12042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5h ⚠</a:t>
            </a:r>
            <a:endParaRPr lang="en-US" sz="1000" dirty="0"/>
          </a:p>
        </p:txBody>
      </p:sp>
      <p:sp>
        <p:nvSpPr>
          <p:cNvPr id="173" name="Shape 170"/>
          <p:cNvSpPr/>
          <p:nvPr/>
        </p:nvSpPr>
        <p:spPr>
          <a:xfrm>
            <a:off x="5504688" y="12051792"/>
            <a:ext cx="4370832" cy="182880"/>
          </a:xfrm>
          <a:prstGeom prst="rect">
            <a:avLst/>
          </a:prstGeom>
          <a:solidFill>
            <a:srgbClr val="E2E4E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5504688" y="12051792"/>
            <a:ext cx="1835749" cy="182880"/>
          </a:xfrm>
          <a:prstGeom prst="rect">
            <a:avLst/>
          </a:prstGeom>
          <a:solidFill>
            <a:srgbClr val="7F1010"/>
          </a:solidFill>
          <a:ln w="12700">
            <a:solidFill>
              <a:srgbClr val="7F1010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7011253" y="120517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</a:t>
            </a:r>
            <a:endParaRPr lang="en-US" sz="900" dirty="0"/>
          </a:p>
        </p:txBody>
      </p:sp>
      <p:sp>
        <p:nvSpPr>
          <p:cNvPr id="176" name="Text 173"/>
          <p:cNvSpPr/>
          <p:nvPr/>
        </p:nvSpPr>
        <p:spPr>
          <a:xfrm>
            <a:off x="4096512" y="12271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5–6h</a:t>
            </a:r>
            <a:endParaRPr lang="en-US" sz="1000" dirty="0"/>
          </a:p>
        </p:txBody>
      </p:sp>
      <p:sp>
        <p:nvSpPr>
          <p:cNvPr id="177" name="Shape 174"/>
          <p:cNvSpPr/>
          <p:nvPr/>
        </p:nvSpPr>
        <p:spPr>
          <a:xfrm>
            <a:off x="5504688" y="12280392"/>
            <a:ext cx="4370832" cy="182880"/>
          </a:xfrm>
          <a:prstGeom prst="rect">
            <a:avLst/>
          </a:prstGeom>
          <a:solidFill>
            <a:srgbClr val="E2E4E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5504688" y="12280392"/>
            <a:ext cx="2403958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7579462" y="122803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</a:t>
            </a:r>
            <a:endParaRPr lang="en-US" sz="900" dirty="0"/>
          </a:p>
        </p:txBody>
      </p:sp>
      <p:sp>
        <p:nvSpPr>
          <p:cNvPr id="180" name="Text 177"/>
          <p:cNvSpPr/>
          <p:nvPr/>
        </p:nvSpPr>
        <p:spPr>
          <a:xfrm>
            <a:off x="4096512" y="12499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6–7h</a:t>
            </a:r>
            <a:endParaRPr lang="en-US" sz="1000" dirty="0"/>
          </a:p>
        </p:txBody>
      </p:sp>
      <p:sp>
        <p:nvSpPr>
          <p:cNvPr id="181" name="Shape 178"/>
          <p:cNvSpPr/>
          <p:nvPr/>
        </p:nvSpPr>
        <p:spPr>
          <a:xfrm>
            <a:off x="5504688" y="12508992"/>
            <a:ext cx="4370832" cy="182880"/>
          </a:xfrm>
          <a:prstGeom prst="rect">
            <a:avLst/>
          </a:prstGeom>
          <a:solidFill>
            <a:srgbClr val="E2E4E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5504688" y="12508992"/>
            <a:ext cx="2884749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8060253" y="125089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6.6</a:t>
            </a:r>
            <a:endParaRPr lang="en-US" sz="900" dirty="0"/>
          </a:p>
        </p:txBody>
      </p:sp>
      <p:sp>
        <p:nvSpPr>
          <p:cNvPr id="184" name="Text 181"/>
          <p:cNvSpPr/>
          <p:nvPr/>
        </p:nvSpPr>
        <p:spPr>
          <a:xfrm>
            <a:off x="4096512" y="12728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7–8h ✓</a:t>
            </a:r>
            <a:endParaRPr lang="en-US" sz="1000" dirty="0"/>
          </a:p>
        </p:txBody>
      </p:sp>
      <p:sp>
        <p:nvSpPr>
          <p:cNvPr id="185" name="Shape 182"/>
          <p:cNvSpPr/>
          <p:nvPr/>
        </p:nvSpPr>
        <p:spPr>
          <a:xfrm>
            <a:off x="5504688" y="12737592"/>
            <a:ext cx="4370832" cy="182880"/>
          </a:xfrm>
          <a:prstGeom prst="rect">
            <a:avLst/>
          </a:prstGeom>
          <a:solidFill>
            <a:srgbClr val="E2E4E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5504688" y="12737592"/>
            <a:ext cx="3496666" cy="1828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8672170" y="127375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4096512" y="12957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8h</a:t>
            </a:r>
            <a:endParaRPr lang="en-US" sz="1000" dirty="0"/>
          </a:p>
        </p:txBody>
      </p:sp>
      <p:sp>
        <p:nvSpPr>
          <p:cNvPr id="189" name="Shape 186"/>
          <p:cNvSpPr/>
          <p:nvPr/>
        </p:nvSpPr>
        <p:spPr>
          <a:xfrm>
            <a:off x="5504688" y="12966192"/>
            <a:ext cx="4370832" cy="182880"/>
          </a:xfrm>
          <a:prstGeom prst="rect">
            <a:avLst/>
          </a:prstGeom>
          <a:solidFill>
            <a:srgbClr val="E2E4E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504688" y="12966192"/>
            <a:ext cx="3321832" cy="18288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8497336" y="129661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7.6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4096512" y="13021056"/>
            <a:ext cx="5650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7–8h sleep → mean productivity 8.0/10. Below 5h → 4.2/10. Sleep loss is the primary mediator of social media harm.</a:t>
            </a:r>
            <a:endParaRPr lang="en-US" sz="950" dirty="0"/>
          </a:p>
        </p:txBody>
      </p:sp>
      <p:sp>
        <p:nvSpPr>
          <p:cNvPr id="193" name="Shape 190"/>
          <p:cNvSpPr/>
          <p:nvPr/>
        </p:nvSpPr>
        <p:spPr>
          <a:xfrm>
            <a:off x="3931920" y="13331952"/>
            <a:ext cx="5980176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3931920" y="13331952"/>
            <a:ext cx="73152" cy="164592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4096512" y="13423392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 — K-Means Clustering (k=3, Silhouette=0.55)</a:t>
            </a:r>
            <a:endParaRPr lang="en-US" sz="1100" dirty="0"/>
          </a:p>
        </p:txBody>
      </p:sp>
      <p:sp>
        <p:nvSpPr>
          <p:cNvPr id="196" name="Shape 193"/>
          <p:cNvSpPr/>
          <p:nvPr/>
        </p:nvSpPr>
        <p:spPr>
          <a:xfrm>
            <a:off x="4133088" y="13752576"/>
            <a:ext cx="1853184" cy="1115568"/>
          </a:xfrm>
          <a:prstGeom prst="rect">
            <a:avLst/>
          </a:prstGeom>
          <a:solidFill>
            <a:srgbClr val="ECFDF5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4133088" y="13752576"/>
            <a:ext cx="1853184" cy="1097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4187952" y="13880592"/>
            <a:ext cx="1743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950" dirty="0"/>
          </a:p>
        </p:txBody>
      </p:sp>
      <p:sp>
        <p:nvSpPr>
          <p:cNvPr id="199" name="Text 196"/>
          <p:cNvSpPr/>
          <p:nvPr/>
        </p:nvSpPr>
        <p:spPr>
          <a:xfrm>
            <a:off x="4187952" y="14136624"/>
            <a:ext cx="1743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Stress: 2.36</a:t>
            </a:r>
            <a:endParaRPr lang="en-US" sz="1100" dirty="0"/>
          </a:p>
        </p:txBody>
      </p:sp>
      <p:sp>
        <p:nvSpPr>
          <p:cNvPr id="200" name="Text 197"/>
          <p:cNvSpPr/>
          <p:nvPr/>
        </p:nvSpPr>
        <p:spPr>
          <a:xfrm>
            <a:off x="4187952" y="14337792"/>
            <a:ext cx="174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Prod: 4.95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4187952" y="14538960"/>
            <a:ext cx="1743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usage · healthy sleep</a:t>
            </a:r>
            <a:endParaRPr lang="en-US" sz="950" dirty="0"/>
          </a:p>
        </p:txBody>
      </p:sp>
      <p:sp>
        <p:nvSpPr>
          <p:cNvPr id="202" name="Shape 199"/>
          <p:cNvSpPr/>
          <p:nvPr/>
        </p:nvSpPr>
        <p:spPr>
          <a:xfrm>
            <a:off x="6022848" y="13752576"/>
            <a:ext cx="1853184" cy="1115568"/>
          </a:xfrm>
          <a:prstGeom prst="rect">
            <a:avLst/>
          </a:prstGeom>
          <a:solidFill>
            <a:srgbClr val="FEF2EE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6022848" y="13752576"/>
            <a:ext cx="1853184" cy="109728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204" name="Text 201"/>
          <p:cNvSpPr/>
          <p:nvPr/>
        </p:nvSpPr>
        <p:spPr>
          <a:xfrm>
            <a:off x="6077712" y="13880592"/>
            <a:ext cx="1743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9A1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</a:t>
            </a:r>
            <a:endParaRPr lang="en-US" sz="950" dirty="0"/>
          </a:p>
        </p:txBody>
      </p:sp>
      <p:sp>
        <p:nvSpPr>
          <p:cNvPr id="205" name="Text 202"/>
          <p:cNvSpPr/>
          <p:nvPr/>
        </p:nvSpPr>
        <p:spPr>
          <a:xfrm>
            <a:off x="6077712" y="14136624"/>
            <a:ext cx="1743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Stress: 8.82</a:t>
            </a:r>
            <a:endParaRPr lang="en-US" sz="1100" dirty="0"/>
          </a:p>
        </p:txBody>
      </p:sp>
      <p:sp>
        <p:nvSpPr>
          <p:cNvPr id="206" name="Text 203"/>
          <p:cNvSpPr/>
          <p:nvPr/>
        </p:nvSpPr>
        <p:spPr>
          <a:xfrm>
            <a:off x="6077712" y="14337792"/>
            <a:ext cx="174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Prod: 4.96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6077712" y="14538960"/>
            <a:ext cx="1743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3.75× higher stress</a:t>
            </a:r>
            <a:endParaRPr lang="en-US" sz="950" dirty="0"/>
          </a:p>
        </p:txBody>
      </p:sp>
      <p:sp>
        <p:nvSpPr>
          <p:cNvPr id="208" name="Shape 205"/>
          <p:cNvSpPr/>
          <p:nvPr/>
        </p:nvSpPr>
        <p:spPr>
          <a:xfrm>
            <a:off x="7912608" y="13752576"/>
            <a:ext cx="1853184" cy="11155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7912608" y="13752576"/>
            <a:ext cx="1853184" cy="109728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210" name="Text 207"/>
          <p:cNvSpPr/>
          <p:nvPr/>
        </p:nvSpPr>
        <p:spPr>
          <a:xfrm>
            <a:off x="7967472" y="13880592"/>
            <a:ext cx="1743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</p:txBody>
      </p:sp>
      <p:sp>
        <p:nvSpPr>
          <p:cNvPr id="211" name="Text 208"/>
          <p:cNvSpPr/>
          <p:nvPr/>
        </p:nvSpPr>
        <p:spPr>
          <a:xfrm>
            <a:off x="7967472" y="14136624"/>
            <a:ext cx="1743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C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Stress: 5.84</a:t>
            </a:r>
            <a:endParaRPr lang="en-US" sz="1100" dirty="0"/>
          </a:p>
        </p:txBody>
      </p:sp>
      <p:sp>
        <p:nvSpPr>
          <p:cNvPr id="212" name="Text 209"/>
          <p:cNvSpPr/>
          <p:nvPr/>
        </p:nvSpPr>
        <p:spPr>
          <a:xfrm>
            <a:off x="7967472" y="14337792"/>
            <a:ext cx="174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Prod: 4.96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7967472" y="14538960"/>
            <a:ext cx="1743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intervention</a:t>
            </a:r>
            <a:endParaRPr lang="en-US" sz="950" dirty="0"/>
          </a:p>
        </p:txBody>
      </p:sp>
      <p:sp>
        <p:nvSpPr>
          <p:cNvPr id="214" name="Shape 211"/>
          <p:cNvSpPr/>
          <p:nvPr/>
        </p:nvSpPr>
        <p:spPr>
          <a:xfrm>
            <a:off x="10113264" y="3163824"/>
            <a:ext cx="402336" cy="402336"/>
          </a:xfrm>
          <a:prstGeom prst="ellipse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15" name="Text 212"/>
          <p:cNvSpPr/>
          <p:nvPr/>
        </p:nvSpPr>
        <p:spPr>
          <a:xfrm>
            <a:off x="10113264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6" name="Text 213"/>
          <p:cNvSpPr/>
          <p:nvPr/>
        </p:nvSpPr>
        <p:spPr>
          <a:xfrm>
            <a:off x="10588752" y="31821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217" name="Shape 214"/>
          <p:cNvSpPr/>
          <p:nvPr/>
        </p:nvSpPr>
        <p:spPr>
          <a:xfrm>
            <a:off x="10991088" y="3163824"/>
            <a:ext cx="4169664" cy="420624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18" name="Text 215"/>
          <p:cNvSpPr/>
          <p:nvPr/>
        </p:nvSpPr>
        <p:spPr>
          <a:xfrm>
            <a:off x="11082528" y="316382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endParaRPr lang="en-US" sz="1300" dirty="0"/>
          </a:p>
        </p:txBody>
      </p:sp>
      <p:sp>
        <p:nvSpPr>
          <p:cNvPr id="219" name="Shape 216"/>
          <p:cNvSpPr/>
          <p:nvPr/>
        </p:nvSpPr>
        <p:spPr>
          <a:xfrm>
            <a:off x="10113264" y="3675888"/>
            <a:ext cx="5047488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10113264" y="3675888"/>
            <a:ext cx="73152" cy="28346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10277856" y="3767328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100" dirty="0"/>
          </a:p>
        </p:txBody>
      </p:sp>
      <p:sp>
        <p:nvSpPr>
          <p:cNvPr id="222" name="Text 219"/>
          <p:cNvSpPr/>
          <p:nvPr/>
        </p:nvSpPr>
        <p:spPr>
          <a:xfrm>
            <a:off x="10222992" y="4178808"/>
            <a:ext cx="31294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Regressor R²</a:t>
            </a:r>
            <a:endParaRPr lang="en-US" sz="1200" dirty="0"/>
          </a:p>
        </p:txBody>
      </p:sp>
      <p:sp>
        <p:nvSpPr>
          <p:cNvPr id="223" name="Text 220"/>
          <p:cNvSpPr/>
          <p:nvPr/>
        </p:nvSpPr>
        <p:spPr>
          <a:xfrm>
            <a:off x="13242707" y="4178808"/>
            <a:ext cx="18083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4F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0.7766</a:t>
            </a:r>
            <a:endParaRPr lang="en-US" sz="1400" dirty="0"/>
          </a:p>
        </p:txBody>
      </p:sp>
      <p:sp>
        <p:nvSpPr>
          <p:cNvPr id="224" name="Shape 221"/>
          <p:cNvSpPr/>
          <p:nvPr/>
        </p:nvSpPr>
        <p:spPr>
          <a:xfrm>
            <a:off x="10113264" y="4407408"/>
            <a:ext cx="5047488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225" name="Text 222"/>
          <p:cNvSpPr/>
          <p:nvPr/>
        </p:nvSpPr>
        <p:spPr>
          <a:xfrm>
            <a:off x="10222992" y="4489704"/>
            <a:ext cx="31294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R² (±0.0028)</a:t>
            </a:r>
            <a:endParaRPr lang="en-US" sz="1200" dirty="0"/>
          </a:p>
        </p:txBody>
      </p:sp>
      <p:sp>
        <p:nvSpPr>
          <p:cNvPr id="226" name="Text 223"/>
          <p:cNvSpPr/>
          <p:nvPr/>
        </p:nvSpPr>
        <p:spPr>
          <a:xfrm>
            <a:off x="13242707" y="4489704"/>
            <a:ext cx="18083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0.7769</a:t>
            </a:r>
            <a:endParaRPr lang="en-US" sz="1400" dirty="0"/>
          </a:p>
        </p:txBody>
      </p:sp>
      <p:sp>
        <p:nvSpPr>
          <p:cNvPr id="227" name="Shape 224"/>
          <p:cNvSpPr/>
          <p:nvPr/>
        </p:nvSpPr>
        <p:spPr>
          <a:xfrm>
            <a:off x="10113264" y="4718304"/>
            <a:ext cx="5047488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228" name="Text 225"/>
          <p:cNvSpPr/>
          <p:nvPr/>
        </p:nvSpPr>
        <p:spPr>
          <a:xfrm>
            <a:off x="10222992" y="4800600"/>
            <a:ext cx="31294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R²</a:t>
            </a:r>
            <a:endParaRPr lang="en-US" sz="1200" dirty="0"/>
          </a:p>
        </p:txBody>
      </p:sp>
      <p:sp>
        <p:nvSpPr>
          <p:cNvPr id="229" name="Text 226"/>
          <p:cNvSpPr/>
          <p:nvPr/>
        </p:nvSpPr>
        <p:spPr>
          <a:xfrm>
            <a:off x="13242707" y="4800600"/>
            <a:ext cx="18083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0.7619</a:t>
            </a:r>
            <a:endParaRPr lang="en-US" sz="1400" dirty="0"/>
          </a:p>
        </p:txBody>
      </p:sp>
      <p:sp>
        <p:nvSpPr>
          <p:cNvPr id="230" name="Shape 227"/>
          <p:cNvSpPr/>
          <p:nvPr/>
        </p:nvSpPr>
        <p:spPr>
          <a:xfrm>
            <a:off x="10113264" y="5029200"/>
            <a:ext cx="5047488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10222992" y="5111496"/>
            <a:ext cx="31294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</a:t>
            </a:r>
            <a:endParaRPr lang="en-US" sz="1200" dirty="0"/>
          </a:p>
        </p:txBody>
      </p:sp>
      <p:sp>
        <p:nvSpPr>
          <p:cNvPr id="232" name="Text 229"/>
          <p:cNvSpPr/>
          <p:nvPr/>
        </p:nvSpPr>
        <p:spPr>
          <a:xfrm>
            <a:off x="13242707" y="5111496"/>
            <a:ext cx="18083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0.685 / 0.864</a:t>
            </a:r>
            <a:endParaRPr lang="en-US" sz="1400" dirty="0"/>
          </a:p>
        </p:txBody>
      </p:sp>
      <p:sp>
        <p:nvSpPr>
          <p:cNvPr id="233" name="Shape 230"/>
          <p:cNvSpPr/>
          <p:nvPr/>
        </p:nvSpPr>
        <p:spPr>
          <a:xfrm>
            <a:off x="10113264" y="5340096"/>
            <a:ext cx="5047488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234" name="Text 231"/>
          <p:cNvSpPr/>
          <p:nvPr/>
        </p:nvSpPr>
        <p:spPr>
          <a:xfrm>
            <a:off x="10222992" y="5422392"/>
            <a:ext cx="31294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Accuracy</a:t>
            </a:r>
            <a:endParaRPr lang="en-US" sz="1200" dirty="0"/>
          </a:p>
        </p:txBody>
      </p:sp>
      <p:sp>
        <p:nvSpPr>
          <p:cNvPr id="235" name="Text 232"/>
          <p:cNvSpPr/>
          <p:nvPr/>
        </p:nvSpPr>
        <p:spPr>
          <a:xfrm>
            <a:off x="13242707" y="5422392"/>
            <a:ext cx="18083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75.9%</a:t>
            </a:r>
            <a:endParaRPr lang="en-US" sz="1400" dirty="0"/>
          </a:p>
        </p:txBody>
      </p:sp>
      <p:sp>
        <p:nvSpPr>
          <p:cNvPr id="236" name="Shape 233"/>
          <p:cNvSpPr/>
          <p:nvPr/>
        </p:nvSpPr>
        <p:spPr>
          <a:xfrm>
            <a:off x="10113264" y="5650992"/>
            <a:ext cx="5047488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237" name="Text 234"/>
          <p:cNvSpPr/>
          <p:nvPr/>
        </p:nvSpPr>
        <p:spPr>
          <a:xfrm>
            <a:off x="10222992" y="5733288"/>
            <a:ext cx="31294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</a:t>
            </a:r>
            <a:endParaRPr lang="en-US" sz="1200" dirty="0"/>
          </a:p>
        </p:txBody>
      </p:sp>
      <p:sp>
        <p:nvSpPr>
          <p:cNvPr id="238" name="Text 235"/>
          <p:cNvSpPr/>
          <p:nvPr/>
        </p:nvSpPr>
        <p:spPr>
          <a:xfrm>
            <a:off x="13242707" y="5733288"/>
            <a:ext cx="18083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</a:t>
            </a:r>
            <a:endParaRPr lang="en-US" sz="1400" dirty="0"/>
          </a:p>
        </p:txBody>
      </p:sp>
      <p:sp>
        <p:nvSpPr>
          <p:cNvPr id="239" name="Shape 236"/>
          <p:cNvSpPr/>
          <p:nvPr/>
        </p:nvSpPr>
        <p:spPr>
          <a:xfrm>
            <a:off x="10113264" y="5961888"/>
            <a:ext cx="5047488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10222992" y="6044184"/>
            <a:ext cx="31294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Silhouette (k=3)</a:t>
            </a:r>
            <a:endParaRPr lang="en-US" sz="1200" dirty="0"/>
          </a:p>
        </p:txBody>
      </p:sp>
      <p:sp>
        <p:nvSpPr>
          <p:cNvPr id="241" name="Text 238"/>
          <p:cNvSpPr/>
          <p:nvPr/>
        </p:nvSpPr>
        <p:spPr>
          <a:xfrm>
            <a:off x="13242707" y="6044184"/>
            <a:ext cx="18083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0.55</a:t>
            </a:r>
            <a:endParaRPr lang="en-US" sz="1400" dirty="0"/>
          </a:p>
        </p:txBody>
      </p:sp>
      <p:sp>
        <p:nvSpPr>
          <p:cNvPr id="242" name="Shape 239"/>
          <p:cNvSpPr/>
          <p:nvPr/>
        </p:nvSpPr>
        <p:spPr>
          <a:xfrm>
            <a:off x="10241280" y="6126480"/>
            <a:ext cx="4791456" cy="201168"/>
          </a:xfrm>
          <a:prstGeom prst="rect">
            <a:avLst/>
          </a:prstGeom>
          <a:solidFill>
            <a:srgbClr val="FEF2EE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10296144" y="612648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RF explains 77.66% variance — strong for multifactorial behavioural data</a:t>
            </a:r>
            <a:endParaRPr lang="en-US" sz="950" dirty="0"/>
          </a:p>
        </p:txBody>
      </p:sp>
      <p:sp>
        <p:nvSpPr>
          <p:cNvPr id="244" name="Shape 241"/>
          <p:cNvSpPr/>
          <p:nvPr/>
        </p:nvSpPr>
        <p:spPr>
          <a:xfrm>
            <a:off x="10113264" y="6656832"/>
            <a:ext cx="5047488" cy="19751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10113264" y="6656832"/>
            <a:ext cx="73152" cy="1975104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6" name="Text 243"/>
          <p:cNvSpPr/>
          <p:nvPr/>
        </p:nvSpPr>
        <p:spPr>
          <a:xfrm>
            <a:off x="10277856" y="6748272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RF Regressor (Top 5)</a:t>
            </a:r>
            <a:endParaRPr lang="en-US" sz="1100" dirty="0"/>
          </a:p>
        </p:txBody>
      </p:sp>
      <p:sp>
        <p:nvSpPr>
          <p:cNvPr id="247" name="Text 244"/>
          <p:cNvSpPr/>
          <p:nvPr/>
        </p:nvSpPr>
        <p:spPr>
          <a:xfrm>
            <a:off x="10277856" y="709574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job_satisfaction</a:t>
            </a:r>
            <a:endParaRPr lang="en-US" sz="1000" dirty="0"/>
          </a:p>
        </p:txBody>
      </p:sp>
      <p:sp>
        <p:nvSpPr>
          <p:cNvPr id="248" name="Shape 245"/>
          <p:cNvSpPr/>
          <p:nvPr/>
        </p:nvSpPr>
        <p:spPr>
          <a:xfrm>
            <a:off x="11722608" y="7132320"/>
            <a:ext cx="3401568" cy="182880"/>
          </a:xfrm>
          <a:prstGeom prst="rect">
            <a:avLst/>
          </a:prstGeom>
          <a:solidFill>
            <a:srgbClr val="E2E4E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11722608" y="7132320"/>
            <a:ext cx="2704247" cy="18288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250" name="Text 247"/>
          <p:cNvSpPr/>
          <p:nvPr/>
        </p:nvSpPr>
        <p:spPr>
          <a:xfrm>
            <a:off x="14445143" y="713232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0.795</a:t>
            </a:r>
            <a:endParaRPr lang="en-US" sz="900" dirty="0"/>
          </a:p>
        </p:txBody>
      </p:sp>
      <p:sp>
        <p:nvSpPr>
          <p:cNvPr id="251" name="Text 248"/>
          <p:cNvSpPr/>
          <p:nvPr/>
        </p:nvSpPr>
        <p:spPr>
          <a:xfrm>
            <a:off x="10277856" y="737006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sleep_hours</a:t>
            </a:r>
            <a:endParaRPr lang="en-US" sz="1000" dirty="0"/>
          </a:p>
        </p:txBody>
      </p:sp>
      <p:sp>
        <p:nvSpPr>
          <p:cNvPr id="252" name="Shape 249"/>
          <p:cNvSpPr/>
          <p:nvPr/>
        </p:nvSpPr>
        <p:spPr>
          <a:xfrm>
            <a:off x="11722608" y="7406640"/>
            <a:ext cx="3401568" cy="182880"/>
          </a:xfrm>
          <a:prstGeom prst="rect">
            <a:avLst/>
          </a:prstGeom>
          <a:solidFill>
            <a:srgbClr val="E2E4E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11722608" y="7406640"/>
            <a:ext cx="54425" cy="1828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54" name="Text 251"/>
          <p:cNvSpPr/>
          <p:nvPr/>
        </p:nvSpPr>
        <p:spPr>
          <a:xfrm>
            <a:off x="11795321" y="740664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10277856" y="764438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work_hours</a:t>
            </a:r>
            <a:endParaRPr lang="en-US" sz="1000" dirty="0"/>
          </a:p>
        </p:txBody>
      </p:sp>
      <p:sp>
        <p:nvSpPr>
          <p:cNvPr id="256" name="Shape 253"/>
          <p:cNvSpPr/>
          <p:nvPr/>
        </p:nvSpPr>
        <p:spPr>
          <a:xfrm>
            <a:off x="11722608" y="7680960"/>
            <a:ext cx="3401568" cy="182880"/>
          </a:xfrm>
          <a:prstGeom prst="rect">
            <a:avLst/>
          </a:prstGeom>
          <a:solidFill>
            <a:srgbClr val="E2E4E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11722608" y="7680960"/>
            <a:ext cx="57827" cy="1828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11798723" y="768096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</a:t>
            </a:r>
            <a:endParaRPr lang="en-US" sz="900" dirty="0"/>
          </a:p>
        </p:txBody>
      </p:sp>
      <p:sp>
        <p:nvSpPr>
          <p:cNvPr id="259" name="Text 256"/>
          <p:cNvSpPr/>
          <p:nvPr/>
        </p:nvSpPr>
        <p:spPr>
          <a:xfrm>
            <a:off x="10277856" y="791870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notification_pressure</a:t>
            </a:r>
            <a:endParaRPr lang="en-US" sz="1000" dirty="0"/>
          </a:p>
        </p:txBody>
      </p:sp>
      <p:sp>
        <p:nvSpPr>
          <p:cNvPr id="260" name="Shape 257"/>
          <p:cNvSpPr/>
          <p:nvPr/>
        </p:nvSpPr>
        <p:spPr>
          <a:xfrm>
            <a:off x="11722608" y="7955280"/>
            <a:ext cx="3401568" cy="182880"/>
          </a:xfrm>
          <a:prstGeom prst="rect">
            <a:avLst/>
          </a:prstGeom>
          <a:solidFill>
            <a:srgbClr val="E2E4E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11722608" y="7955280"/>
            <a:ext cx="40819" cy="182880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262" name="Text 259"/>
          <p:cNvSpPr/>
          <p:nvPr/>
        </p:nvSpPr>
        <p:spPr>
          <a:xfrm>
            <a:off x="11781715" y="79552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0.012</a:t>
            </a:r>
            <a:endParaRPr lang="en-US" sz="900" dirty="0"/>
          </a:p>
        </p:txBody>
      </p:sp>
      <p:sp>
        <p:nvSpPr>
          <p:cNvPr id="263" name="Text 260"/>
          <p:cNvSpPr/>
          <p:nvPr/>
        </p:nvSpPr>
        <p:spPr>
          <a:xfrm>
            <a:off x="10277856" y="8193024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digital_addiction_idx</a:t>
            </a:r>
            <a:endParaRPr lang="en-US" sz="1000" dirty="0"/>
          </a:p>
        </p:txBody>
      </p:sp>
      <p:sp>
        <p:nvSpPr>
          <p:cNvPr id="264" name="Shape 261"/>
          <p:cNvSpPr/>
          <p:nvPr/>
        </p:nvSpPr>
        <p:spPr>
          <a:xfrm>
            <a:off x="11722608" y="8229600"/>
            <a:ext cx="3401568" cy="182880"/>
          </a:xfrm>
          <a:prstGeom prst="rect">
            <a:avLst/>
          </a:prstGeom>
          <a:solidFill>
            <a:srgbClr val="E2E4E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11722608" y="8229600"/>
            <a:ext cx="37417" cy="182880"/>
          </a:xfrm>
          <a:prstGeom prst="rect">
            <a:avLst/>
          </a:prstGeom>
          <a:solidFill>
            <a:srgbClr val="C8370A"/>
          </a:solidFill>
          <a:ln w="12700">
            <a:solidFill>
              <a:srgbClr val="C8370A"/>
            </a:solidFill>
            <a:prstDash val="solid"/>
          </a:ln>
        </p:spPr>
      </p:sp>
      <p:sp>
        <p:nvSpPr>
          <p:cNvPr id="266" name="Text 263"/>
          <p:cNvSpPr/>
          <p:nvPr/>
        </p:nvSpPr>
        <p:spPr>
          <a:xfrm>
            <a:off x="11778313" y="822960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10277856" y="8375904"/>
            <a:ext cx="4718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alone explains ~79.5% of RF importance — dominates all digital behaviour features.</a:t>
            </a:r>
            <a:endParaRPr lang="en-US" sz="950" dirty="0"/>
          </a:p>
        </p:txBody>
      </p:sp>
      <p:sp>
        <p:nvSpPr>
          <p:cNvPr id="268" name="Shape 265"/>
          <p:cNvSpPr/>
          <p:nvPr/>
        </p:nvSpPr>
        <p:spPr>
          <a:xfrm>
            <a:off x="10113264" y="8759952"/>
            <a:ext cx="402336" cy="402336"/>
          </a:xfrm>
          <a:prstGeom prst="ellipse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269" name="Text 266"/>
          <p:cNvSpPr/>
          <p:nvPr/>
        </p:nvSpPr>
        <p:spPr>
          <a:xfrm>
            <a:off x="10113264" y="8759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70" name="Text 267"/>
          <p:cNvSpPr/>
          <p:nvPr/>
        </p:nvSpPr>
        <p:spPr>
          <a:xfrm>
            <a:off x="10588752" y="87782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271" name="Shape 268"/>
          <p:cNvSpPr/>
          <p:nvPr/>
        </p:nvSpPr>
        <p:spPr>
          <a:xfrm>
            <a:off x="10991088" y="8759952"/>
            <a:ext cx="4169664" cy="420624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272" name="Text 269"/>
          <p:cNvSpPr/>
          <p:nvPr/>
        </p:nvSpPr>
        <p:spPr>
          <a:xfrm>
            <a:off x="11082528" y="8759952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73" name="Shape 270"/>
          <p:cNvSpPr/>
          <p:nvPr/>
        </p:nvSpPr>
        <p:spPr>
          <a:xfrm>
            <a:off x="10113264" y="9272016"/>
            <a:ext cx="5047488" cy="22677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F"/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10113264" y="9272016"/>
            <a:ext cx="73152" cy="2267712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10259568" y="9454896"/>
            <a:ext cx="73152" cy="256032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276" name="Text 273"/>
          <p:cNvSpPr/>
          <p:nvPr/>
        </p:nvSpPr>
        <p:spPr>
          <a:xfrm>
            <a:off x="10405872" y="94366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</a:t>
            </a:r>
            <a:endParaRPr lang="en-US" sz="1050" dirty="0"/>
          </a:p>
        </p:txBody>
      </p:sp>
      <p:sp>
        <p:nvSpPr>
          <p:cNvPr id="277" name="Text 274"/>
          <p:cNvSpPr/>
          <p:nvPr/>
        </p:nvSpPr>
        <p:spPr>
          <a:xfrm>
            <a:off x="11539728" y="943660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Causation cannot be established — reverse causality possible.</a:t>
            </a:r>
            <a:endParaRPr lang="en-US" sz="1000" dirty="0"/>
          </a:p>
        </p:txBody>
      </p:sp>
      <p:sp>
        <p:nvSpPr>
          <p:cNvPr id="278" name="Shape 275"/>
          <p:cNvSpPr/>
          <p:nvPr/>
        </p:nvSpPr>
        <p:spPr>
          <a:xfrm>
            <a:off x="10241280" y="9765792"/>
            <a:ext cx="4809744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10259568" y="9875520"/>
            <a:ext cx="73152" cy="256032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280" name="Text 277"/>
          <p:cNvSpPr/>
          <p:nvPr/>
        </p:nvSpPr>
        <p:spPr>
          <a:xfrm>
            <a:off x="10405872" y="9857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 bias</a:t>
            </a:r>
            <a:endParaRPr lang="en-US" sz="1050" dirty="0"/>
          </a:p>
        </p:txBody>
      </p:sp>
      <p:sp>
        <p:nvSpPr>
          <p:cNvPr id="281" name="Text 278"/>
          <p:cNvSpPr/>
          <p:nvPr/>
        </p:nvSpPr>
        <p:spPr>
          <a:xfrm>
            <a:off x="11539728" y="985723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underestimated ~20–30% vs device logs.</a:t>
            </a:r>
            <a:endParaRPr lang="en-US" sz="1000" dirty="0"/>
          </a:p>
        </p:txBody>
      </p:sp>
      <p:sp>
        <p:nvSpPr>
          <p:cNvPr id="282" name="Shape 279"/>
          <p:cNvSpPr/>
          <p:nvPr/>
        </p:nvSpPr>
        <p:spPr>
          <a:xfrm>
            <a:off x="10241280" y="10186416"/>
            <a:ext cx="4809744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10259568" y="10296144"/>
            <a:ext cx="73152" cy="256032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284" name="Text 281"/>
          <p:cNvSpPr/>
          <p:nvPr/>
        </p:nvSpPr>
        <p:spPr>
          <a:xfrm>
            <a:off x="10405872" y="102778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Generalisability</a:t>
            </a:r>
            <a:endParaRPr lang="en-US" sz="1050" dirty="0"/>
          </a:p>
        </p:txBody>
      </p:sp>
      <p:sp>
        <p:nvSpPr>
          <p:cNvPr id="285" name="Text 282"/>
          <p:cNvSpPr/>
          <p:nvPr/>
        </p:nvSpPr>
        <p:spPr>
          <a:xfrm>
            <a:off x="11539728" y="1027785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country/occupation detail beyond broad job-type.</a:t>
            </a:r>
            <a:endParaRPr lang="en-US" sz="1000" dirty="0"/>
          </a:p>
        </p:txBody>
      </p:sp>
      <p:sp>
        <p:nvSpPr>
          <p:cNvPr id="286" name="Shape 283"/>
          <p:cNvSpPr/>
          <p:nvPr/>
        </p:nvSpPr>
        <p:spPr>
          <a:xfrm>
            <a:off x="10241280" y="10607040"/>
            <a:ext cx="4809744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10259568" y="10716768"/>
            <a:ext cx="73152" cy="256032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10405872" y="10698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overfitting</a:t>
            </a:r>
            <a:endParaRPr lang="en-US" sz="1050" dirty="0"/>
          </a:p>
        </p:txBody>
      </p:sp>
      <p:sp>
        <p:nvSpPr>
          <p:cNvPr id="289" name="Text 286"/>
          <p:cNvSpPr/>
          <p:nvPr/>
        </p:nvSpPr>
        <p:spPr>
          <a:xfrm>
            <a:off x="11539728" y="1069848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training R²≈0.97 vs validation R²≈0.78.</a:t>
            </a:r>
            <a:endParaRPr lang="en-US" sz="1000" dirty="0"/>
          </a:p>
        </p:txBody>
      </p:sp>
      <p:sp>
        <p:nvSpPr>
          <p:cNvPr id="290" name="Shape 287"/>
          <p:cNvSpPr/>
          <p:nvPr/>
        </p:nvSpPr>
        <p:spPr>
          <a:xfrm>
            <a:off x="10241280" y="11027664"/>
            <a:ext cx="4809744" cy="0"/>
          </a:xfrm>
          <a:prstGeom prst="line">
            <a:avLst/>
          </a:prstGeom>
          <a:noFill/>
          <a:ln w="5080">
            <a:solidFill>
              <a:srgbClr val="E2E4EF"/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10259568" y="11137392"/>
            <a:ext cx="73152" cy="256032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292" name="Text 289"/>
          <p:cNvSpPr/>
          <p:nvPr/>
        </p:nvSpPr>
        <p:spPr>
          <a:xfrm>
            <a:off x="10405872" y="11119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050" dirty="0"/>
          </a:p>
        </p:txBody>
      </p:sp>
      <p:sp>
        <p:nvSpPr>
          <p:cNvPr id="293" name="Text 290"/>
          <p:cNvSpPr/>
          <p:nvPr/>
        </p:nvSpPr>
        <p:spPr>
          <a:xfrm>
            <a:off x="11539728" y="1111910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correlations suggest limited real-world structure.</a:t>
            </a:r>
            <a:endParaRPr lang="en-US" sz="1000" dirty="0"/>
          </a:p>
        </p:txBody>
      </p:sp>
      <p:sp>
        <p:nvSpPr>
          <p:cNvPr id="294" name="Shape 291"/>
          <p:cNvSpPr/>
          <p:nvPr/>
        </p:nvSpPr>
        <p:spPr>
          <a:xfrm>
            <a:off x="10113264" y="11667744"/>
            <a:ext cx="402336" cy="40233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5" name="Text 292"/>
          <p:cNvSpPr/>
          <p:nvPr/>
        </p:nvSpPr>
        <p:spPr>
          <a:xfrm>
            <a:off x="10113264" y="11667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96" name="Text 293"/>
          <p:cNvSpPr/>
          <p:nvPr/>
        </p:nvSpPr>
        <p:spPr>
          <a:xfrm>
            <a:off x="10588752" y="116860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297" name="Shape 294"/>
          <p:cNvSpPr/>
          <p:nvPr/>
        </p:nvSpPr>
        <p:spPr>
          <a:xfrm>
            <a:off x="10991088" y="11667744"/>
            <a:ext cx="4169664" cy="4206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11082528" y="1166774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99" name="Shape 296"/>
          <p:cNvSpPr/>
          <p:nvPr/>
        </p:nvSpPr>
        <p:spPr>
          <a:xfrm>
            <a:off x="10113264" y="12179808"/>
            <a:ext cx="5047488" cy="2249424"/>
          </a:xfrm>
          <a:prstGeom prst="rect">
            <a:avLst/>
          </a:prstGeom>
          <a:solidFill>
            <a:srgbClr val="ECFDF5"/>
          </a:solidFill>
          <a:ln w="7620">
            <a:solidFill>
              <a:srgbClr val="A7F3D0"/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10113264" y="12179808"/>
            <a:ext cx="73152" cy="22494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10259568" y="12289536"/>
            <a:ext cx="274320" cy="2743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2" name="Text 299"/>
          <p:cNvSpPr/>
          <p:nvPr/>
        </p:nvSpPr>
        <p:spPr>
          <a:xfrm>
            <a:off x="10625328" y="12307824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INDIVIDUALS</a:t>
            </a:r>
            <a:endParaRPr lang="en-US" sz="1100" dirty="0"/>
          </a:p>
        </p:txBody>
      </p:sp>
      <p:sp>
        <p:nvSpPr>
          <p:cNvPr id="303" name="Shape 300"/>
          <p:cNvSpPr/>
          <p:nvPr/>
        </p:nvSpPr>
        <p:spPr>
          <a:xfrm>
            <a:off x="10277856" y="12710160"/>
            <a:ext cx="9144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4" name="Text 301"/>
          <p:cNvSpPr/>
          <p:nvPr/>
        </p:nvSpPr>
        <p:spPr>
          <a:xfrm>
            <a:off x="10424160" y="12637008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7–8h sleep — primary mediator of harm</a:t>
            </a:r>
            <a:endParaRPr lang="en-US" sz="1050" dirty="0"/>
          </a:p>
        </p:txBody>
      </p:sp>
      <p:sp>
        <p:nvSpPr>
          <p:cNvPr id="305" name="Shape 302"/>
          <p:cNvSpPr/>
          <p:nvPr/>
        </p:nvSpPr>
        <p:spPr>
          <a:xfrm>
            <a:off x="10277856" y="13203936"/>
            <a:ext cx="9144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6" name="Text 303"/>
          <p:cNvSpPr/>
          <p:nvPr/>
        </p:nvSpPr>
        <p:spPr>
          <a:xfrm>
            <a:off x="10424160" y="13130784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usage under 2h/day; monitor DAI score</a:t>
            </a:r>
            <a:endParaRPr lang="en-US" sz="1050" dirty="0"/>
          </a:p>
        </p:txBody>
      </p:sp>
      <p:sp>
        <p:nvSpPr>
          <p:cNvPr id="307" name="Shape 304"/>
          <p:cNvSpPr/>
          <p:nvPr/>
        </p:nvSpPr>
        <p:spPr>
          <a:xfrm>
            <a:off x="10277856" y="13697712"/>
            <a:ext cx="9144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10424160" y="13624560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stress first — greater gains than usage restriction</a:t>
            </a:r>
            <a:endParaRPr lang="en-US" sz="1050" dirty="0"/>
          </a:p>
        </p:txBody>
      </p:sp>
      <p:sp>
        <p:nvSpPr>
          <p:cNvPr id="309" name="Shape 306"/>
          <p:cNvSpPr/>
          <p:nvPr/>
        </p:nvSpPr>
        <p:spPr>
          <a:xfrm>
            <a:off x="10113264" y="14575536"/>
            <a:ext cx="5047488" cy="2249424"/>
          </a:xfrm>
          <a:prstGeom prst="rect">
            <a:avLst/>
          </a:prstGeom>
          <a:solidFill>
            <a:srgbClr val="EFF4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113264" y="14575536"/>
            <a:ext cx="73152" cy="2249424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259568" y="14685264"/>
            <a:ext cx="274320" cy="274320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12" name="Text 309"/>
          <p:cNvSpPr/>
          <p:nvPr/>
        </p:nvSpPr>
        <p:spPr>
          <a:xfrm>
            <a:off x="10625328" y="14703552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EMPLOYERS</a:t>
            </a:r>
            <a:endParaRPr lang="en-US" sz="1100" dirty="0"/>
          </a:p>
        </p:txBody>
      </p:sp>
      <p:sp>
        <p:nvSpPr>
          <p:cNvPr id="313" name="Shape 310"/>
          <p:cNvSpPr/>
          <p:nvPr/>
        </p:nvSpPr>
        <p:spPr>
          <a:xfrm>
            <a:off x="10277856" y="15105888"/>
            <a:ext cx="91440" cy="27432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14" name="Text 311"/>
          <p:cNvSpPr/>
          <p:nvPr/>
        </p:nvSpPr>
        <p:spPr>
          <a:xfrm>
            <a:off x="10424160" y="15032736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job satisfaction (r=+0.874) — highest ROI</a:t>
            </a:r>
            <a:endParaRPr lang="en-US" sz="1050" dirty="0"/>
          </a:p>
        </p:txBody>
      </p:sp>
      <p:sp>
        <p:nvSpPr>
          <p:cNvPr id="315" name="Shape 312"/>
          <p:cNvSpPr/>
          <p:nvPr/>
        </p:nvSpPr>
        <p:spPr>
          <a:xfrm>
            <a:off x="10277856" y="15599664"/>
            <a:ext cx="91440" cy="27432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16" name="Text 313"/>
          <p:cNvSpPr/>
          <p:nvPr/>
        </p:nvSpPr>
        <p:spPr>
          <a:xfrm>
            <a:off x="10424160" y="15526512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stress+sleep+usage combined, not usage alone</a:t>
            </a:r>
            <a:endParaRPr lang="en-US" sz="1050" dirty="0"/>
          </a:p>
        </p:txBody>
      </p:sp>
      <p:sp>
        <p:nvSpPr>
          <p:cNvPr id="317" name="Shape 314"/>
          <p:cNvSpPr/>
          <p:nvPr/>
        </p:nvSpPr>
        <p:spPr>
          <a:xfrm>
            <a:off x="10277856" y="16093440"/>
            <a:ext cx="91440" cy="27432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18" name="Text 315"/>
          <p:cNvSpPr/>
          <p:nvPr/>
        </p:nvSpPr>
        <p:spPr>
          <a:xfrm>
            <a:off x="10424160" y="16020288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comms windows reduce Notification Pressure</a:t>
            </a:r>
            <a:endParaRPr lang="en-US" sz="1050" dirty="0"/>
          </a:p>
        </p:txBody>
      </p:sp>
      <p:sp>
        <p:nvSpPr>
          <p:cNvPr id="319" name="Shape 316"/>
          <p:cNvSpPr/>
          <p:nvPr/>
        </p:nvSpPr>
        <p:spPr>
          <a:xfrm>
            <a:off x="10113264" y="16971264"/>
            <a:ext cx="5047488" cy="2249424"/>
          </a:xfrm>
          <a:prstGeom prst="rect">
            <a:avLst/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0113264" y="16971264"/>
            <a:ext cx="73152" cy="2249424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0259568" y="17080992"/>
            <a:ext cx="274320" cy="274320"/>
          </a:xfrm>
          <a:prstGeom prst="ellipse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322" name="Text 319"/>
          <p:cNvSpPr/>
          <p:nvPr/>
        </p:nvSpPr>
        <p:spPr>
          <a:xfrm>
            <a:off x="10625328" y="17099280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PLATFORM DESIGNERS</a:t>
            </a:r>
            <a:endParaRPr lang="en-US" sz="1100" dirty="0"/>
          </a:p>
        </p:txBody>
      </p:sp>
      <p:sp>
        <p:nvSpPr>
          <p:cNvPr id="323" name="Shape 320"/>
          <p:cNvSpPr/>
          <p:nvPr/>
        </p:nvSpPr>
        <p:spPr>
          <a:xfrm>
            <a:off x="10277856" y="17501616"/>
            <a:ext cx="91440" cy="274320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324" name="Text 321"/>
          <p:cNvSpPr/>
          <p:nvPr/>
        </p:nvSpPr>
        <p:spPr>
          <a:xfrm>
            <a:off x="10424160" y="17428464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intentional engagement — usage feedback</a:t>
            </a:r>
            <a:endParaRPr lang="en-US" sz="1050" dirty="0"/>
          </a:p>
        </p:txBody>
      </p:sp>
      <p:sp>
        <p:nvSpPr>
          <p:cNvPr id="325" name="Shape 322"/>
          <p:cNvSpPr/>
          <p:nvPr/>
        </p:nvSpPr>
        <p:spPr>
          <a:xfrm>
            <a:off x="10277856" y="17995392"/>
            <a:ext cx="91440" cy="274320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326" name="Text 323"/>
          <p:cNvSpPr/>
          <p:nvPr/>
        </p:nvSpPr>
        <p:spPr>
          <a:xfrm>
            <a:off x="10424160" y="17922240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night-mode &amp; DND to opt-out, not opt-in</a:t>
            </a:r>
            <a:endParaRPr lang="en-US" sz="1050" dirty="0"/>
          </a:p>
        </p:txBody>
      </p:sp>
      <p:sp>
        <p:nvSpPr>
          <p:cNvPr id="327" name="Shape 324"/>
          <p:cNvSpPr/>
          <p:nvPr/>
        </p:nvSpPr>
        <p:spPr>
          <a:xfrm>
            <a:off x="10277856" y="18489168"/>
            <a:ext cx="91440" cy="274320"/>
          </a:xfrm>
          <a:prstGeom prst="rect">
            <a:avLst/>
          </a:prstGeom>
          <a:solidFill>
            <a:srgbClr val="B85C0A"/>
          </a:solidFill>
          <a:ln w="12700">
            <a:solidFill>
              <a:srgbClr val="B85C0A"/>
            </a:solidFill>
            <a:prstDash val="solid"/>
          </a:ln>
        </p:spPr>
      </p:sp>
      <p:sp>
        <p:nvSpPr>
          <p:cNvPr id="328" name="Text 325"/>
          <p:cNvSpPr/>
          <p:nvPr/>
        </p:nvSpPr>
        <p:spPr>
          <a:xfrm>
            <a:off x="10424160" y="18416016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proactive break prompts for doomscrollers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2026-06-09T04:20:13Z</dcterms:created>
  <dcterms:modified xsi:type="dcterms:W3CDTF">2026-06-09T04:20:13Z</dcterms:modified>
</cp:coreProperties>
</file>